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0eb9d38e8004492" /><Relationship Type="http://schemas.openxmlformats.org/officeDocument/2006/relationships/extended-properties" Target="/docProps/app.xml" Id="Rccc819d498c64a9e" /><Relationship Type="http://schemas.openxmlformats.org/officeDocument/2006/relationships/officeDocument" Target="/ppt/presentation.xml" Id="R3612e5ae5a104e7c" /></Relationships>
</file>

<file path=ppt/presentation.xml><?xml version="1.0" encoding="utf-8"?>
<p:presentation xmlns:p="http://schemas.openxmlformats.org/presentationml/2006/main">
  <p:sldMasterIdLst>
    <p:sldMasterId xmlns:r="http://schemas.openxmlformats.org/officeDocument/2006/relationships" id="2147483648" r:id="Rf6d3dafd26cb458c"/>
  </p:sldMasterIdLst>
  <p:notesMasterIdLst>
    <p:notesMasterId xmlns:r="http://schemas.openxmlformats.org/officeDocument/2006/relationships" r:id="R85b4ce6d25fa42bf"/>
  </p:notesMasterIdLst>
  <p:sldIdLst>
    <p:sldId xmlns:r="http://schemas.openxmlformats.org/officeDocument/2006/relationships" id="256" r:id="R2c6e2ef17cd642ad"/>
    <p:sldId xmlns:r="http://schemas.openxmlformats.org/officeDocument/2006/relationships" id="257" r:id="R1b18cfe72c37427a"/>
    <p:sldId xmlns:r="http://schemas.openxmlformats.org/officeDocument/2006/relationships" id="258" r:id="R6b18059de8c14178"/>
    <p:sldId xmlns:r="http://schemas.openxmlformats.org/officeDocument/2006/relationships" id="259" r:id="Ra526acefcda94e0f"/>
    <p:sldId xmlns:r="http://schemas.openxmlformats.org/officeDocument/2006/relationships" id="260" r:id="R37800c177bd746ec"/>
    <p:sldId xmlns:r="http://schemas.openxmlformats.org/officeDocument/2006/relationships" id="261" r:id="R5ce779aa94984863"/>
    <p:sldId xmlns:r="http://schemas.openxmlformats.org/officeDocument/2006/relationships" id="262" r:id="R04a350a9465a43e9"/>
    <p:sldId xmlns:r="http://schemas.openxmlformats.org/officeDocument/2006/relationships" id="263" r:id="Rfc7c934ae18141d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71ec995debd4daa" /><Relationship Type="http://schemas.openxmlformats.org/officeDocument/2006/relationships/slideMaster" Target="/ppt/slideMasters/slideMaster1.xml" Id="Rf6d3dafd26cb458c" /><Relationship Type="http://schemas.openxmlformats.org/officeDocument/2006/relationships/notesMaster" Target="/ppt/notesMasters/notesMaster1.xml" Id="R85b4ce6d25fa42bf" /><Relationship Type="http://schemas.openxmlformats.org/officeDocument/2006/relationships/presProps" Target="/ppt/presProps.xml" Id="R126829214c664d3a" /><Relationship Type="http://schemas.openxmlformats.org/officeDocument/2006/relationships/tableStyles" Target="/ppt/tableStyles.xml" Id="Rc5a10e2af55148ea" /><Relationship Type="http://schemas.openxmlformats.org/officeDocument/2006/relationships/slide" Target="/ppt/slides/slide1.xml" Id="R2c6e2ef17cd642ad" /><Relationship Type="http://schemas.openxmlformats.org/officeDocument/2006/relationships/slide" Target="/ppt/slides/slide2.xml" Id="R1b18cfe72c37427a" /><Relationship Type="http://schemas.openxmlformats.org/officeDocument/2006/relationships/slide" Target="/ppt/slides/slide3.xml" Id="R6b18059de8c14178" /><Relationship Type="http://schemas.openxmlformats.org/officeDocument/2006/relationships/slide" Target="/ppt/slides/slide4.xml" Id="Ra526acefcda94e0f" /><Relationship Type="http://schemas.openxmlformats.org/officeDocument/2006/relationships/slide" Target="/ppt/slides/slide5.xml" Id="R37800c177bd746ec" /><Relationship Type="http://schemas.openxmlformats.org/officeDocument/2006/relationships/slide" Target="/ppt/slides/slide6.xml" Id="R5ce779aa94984863" /><Relationship Type="http://schemas.openxmlformats.org/officeDocument/2006/relationships/slide" Target="/ppt/slides/slide7.xml" Id="R04a350a9465a43e9" /><Relationship Type="http://schemas.openxmlformats.org/officeDocument/2006/relationships/slide" Target="/ppt/slides/slide8.xml" Id="Rfc7c934ae18141d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44a323dd419423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1b7253b757846bc" /><Relationship Type="http://schemas.openxmlformats.org/officeDocument/2006/relationships/notesMaster" Target="/ppt/notesMasters/notesMaster1.xml" Id="Rb0f0cc8b48234b57" /></Relationships>
</file>

<file path=ppt/notesSlides/_rels/notesSlide2.xml.rels>&#65279;<?xml version="1.0" encoding="utf-8"?><Relationships xmlns="http://schemas.openxmlformats.org/package/2006/relationships"><Relationship Type="http://schemas.openxmlformats.org/officeDocument/2006/relationships/slide" Target="/ppt/slides/slide2.xml" Id="R055a064beec24ea1" /><Relationship Type="http://schemas.openxmlformats.org/officeDocument/2006/relationships/notesMaster" Target="/ppt/notesMasters/notesMaster1.xml" Id="R04c5bc405c57436d" /></Relationships>
</file>

<file path=ppt/notesSlides/_rels/notesSlide3.xml.rels>&#65279;<?xml version="1.0" encoding="utf-8"?><Relationships xmlns="http://schemas.openxmlformats.org/package/2006/relationships"><Relationship Type="http://schemas.openxmlformats.org/officeDocument/2006/relationships/slide" Target="/ppt/slides/slide3.xml" Id="Rd262215cf5264b30" /><Relationship Type="http://schemas.openxmlformats.org/officeDocument/2006/relationships/notesMaster" Target="/ppt/notesMasters/notesMaster1.xml" Id="R225aae11b1f14be4" /></Relationships>
</file>

<file path=ppt/notesSlides/_rels/notesSlide4.xml.rels>&#65279;<?xml version="1.0" encoding="utf-8"?><Relationships xmlns="http://schemas.openxmlformats.org/package/2006/relationships"><Relationship Type="http://schemas.openxmlformats.org/officeDocument/2006/relationships/slide" Target="/ppt/slides/slide4.xml" Id="R84833dff1e90403b" /><Relationship Type="http://schemas.openxmlformats.org/officeDocument/2006/relationships/notesMaster" Target="/ppt/notesMasters/notesMaster1.xml" Id="Rba2c4b0f9da54b3f" /></Relationships>
</file>

<file path=ppt/notesSlides/_rels/notesSlide5.xml.rels>&#65279;<?xml version="1.0" encoding="utf-8"?><Relationships xmlns="http://schemas.openxmlformats.org/package/2006/relationships"><Relationship Type="http://schemas.openxmlformats.org/officeDocument/2006/relationships/slide" Target="/ppt/slides/slide5.xml" Id="R2de169e6b7bf4000" /><Relationship Type="http://schemas.openxmlformats.org/officeDocument/2006/relationships/notesMaster" Target="/ppt/notesMasters/notesMaster1.xml" Id="Rd82627eb02e547fd" /></Relationships>
</file>

<file path=ppt/notesSlides/_rels/notesSlide6.xml.rels>&#65279;<?xml version="1.0" encoding="utf-8"?><Relationships xmlns="http://schemas.openxmlformats.org/package/2006/relationships"><Relationship Type="http://schemas.openxmlformats.org/officeDocument/2006/relationships/slide" Target="/ppt/slides/slide6.xml" Id="Re55adfb6840d4442" /><Relationship Type="http://schemas.openxmlformats.org/officeDocument/2006/relationships/notesMaster" Target="/ppt/notesMasters/notesMaster1.xml" Id="R3ec415df4d0343ea" /></Relationships>
</file>

<file path=ppt/notesSlides/_rels/notesSlide7.xml.rels>&#65279;<?xml version="1.0" encoding="utf-8"?><Relationships xmlns="http://schemas.openxmlformats.org/package/2006/relationships"><Relationship Type="http://schemas.openxmlformats.org/officeDocument/2006/relationships/slide" Target="/ppt/slides/slide7.xml" Id="Rd43149ad676f4ad5" /><Relationship Type="http://schemas.openxmlformats.org/officeDocument/2006/relationships/notesMaster" Target="/ppt/notesMasters/notesMaster1.xml" Id="R6f64fb08e3bf4558" /></Relationships>
</file>

<file path=ppt/notesSlides/_rels/notesSlide8.xml.rels>&#65279;<?xml version="1.0" encoding="utf-8"?><Relationships xmlns="http://schemas.openxmlformats.org/package/2006/relationships"><Relationship Type="http://schemas.openxmlformats.org/officeDocument/2006/relationships/slide" Target="/ppt/slides/slide8.xml" Id="Rf8aaac8524864fc9" /><Relationship Type="http://schemas.openxmlformats.org/officeDocument/2006/relationships/notesMaster" Target="/ppt/notesMasters/notesMaster1.xml" Id="R52906372a0314dc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Wayfinder, built by Candela and Franco. A citizen wants to complete a procedure, not understand how a government website is organized. At the same time, the team maintaining that website has to keep requirements, entry points and guidance accurate. We connect those needs: a browser guide for citizens, backed by a catalog maintenance workflow that uses IBM Bob.</a:t>
            </a:r>
          </a:p>
          <a:p xmlns:a="http://schemas.openxmlformats.org/drawingml/2006/main">
            <a:r>
              <a:t/>
            </a:r>
          </a:p>
          <a:p xmlns:a="http://schemas.openxmlformats.org/drawingml/2006/main">
            <a:r>
              <a:t>Sources: https://github.com/candepilar/wayfinder; public demo https://andromedaweb.store/wayfinder/; docs/evidencia/busqueda/README.md; docs/entrega/bob-live-vgg.json; entrenamiento/RESULTADO-CONTRASTES-V1.json. Synthetic measurements are labeled on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begins with scattered information. Requirements live on one page, the application link on another, and menus reflect the institution rather than the person asking for help. Maintaining a useful guide becomes repetitive work. Wayfinder reads a bounded set of public pages and organizes the evidence into records the citizen and the development team can both use.</a:t>
            </a:r>
          </a:p>
          <a:p xmlns:a="http://schemas.openxmlformats.org/drawingml/2006/main">
            <a:r>
              <a:t/>
            </a:r>
          </a:p>
          <a:p xmlns:a="http://schemas.openxmlformats.org/drawingml/2006/main">
            <a:r>
              <a:t>Sources: https://github.com/candepilar/wayfinder; public demo https://andromedaweb.store/wayfinder/; docs/evidencia/busqueda/README.md; docs/entrega/bob-live-vgg.json; entrenamiento/RESULTADO-CONTRASTES-V1.json. Synthetic measurements are labeled on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a real query from our public demonstration: I need to renew my driving licence. Where do I start? Bob selects an existing procedure record. The interface presents the source and the supporting text. If we did not identify a direct application link, it says so. The extension adds guidance over the open website, including link highlighting, a checklist and the ability to continue a previous journey.</a:t>
            </a:r>
          </a:p>
          <a:p xmlns:a="http://schemas.openxmlformats.org/drawingml/2006/main">
            <a:r>
              <a:t/>
            </a:r>
          </a:p>
          <a:p xmlns:a="http://schemas.openxmlformats.org/drawingml/2006/main">
            <a:r>
              <a:t>Sources: https://github.com/candepilar/wayfinder; public demo https://andromedaweb.store/wayfinder/; docs/evidencia/busqueda/README.md; docs/entrega/bob-live-vgg.json; entrenamiento/RESULTADO-CONTRASTES-V1.json. Synthetic measurements are labeled on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site team, the workflow starts with public page evidence. The motor divides that evidence into bounded Bob tasks, which can run concurrently. A second Bob pass reviews selected records against their sources. Successive readings can reveal changed requirements and missing entry points. The team can export an accessible procedures index and structured data, turning the audit into something concrete it can publish.</a:t>
            </a:r>
          </a:p>
          <a:p xmlns:a="http://schemas.openxmlformats.org/drawingml/2006/main">
            <a:r>
              <a:t/>
            </a:r>
          </a:p>
          <a:p xmlns:a="http://schemas.openxmlformats.org/drawingml/2006/main">
            <a:r>
              <a:t>Sources: https://github.com/candepilar/wayfinder; public demo https://andromedaweb.store/wayfinder/; docs/evidencia/busqueda/README.md; docs/entrega/bob-live-vgg.json; entrenamiento/RESULTADO-CONTRASTES-V1.json. Synthetic measurements are labeled on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Bob is part of the running product. It organizes catalogs and selects existing records for conversational guidance. The server validates identifiers and keeps links under application control. In one real test, Bob included an uncited number. We kept the citation guard and removed the unsupported summary while preserving valid evidence. The repository also includes coordinator, cartographer and reviewer modes, skills and six MCP tools. Configuration files are not presented as proof of an unrecorded IDE session.</a:t>
            </a:r>
          </a:p>
          <a:p xmlns:a="http://schemas.openxmlformats.org/drawingml/2006/main">
            <a:r>
              <a:t/>
            </a:r>
          </a:p>
          <a:p xmlns:a="http://schemas.openxmlformats.org/drawingml/2006/main">
            <a:r>
              <a:t>Sources: https://github.com/candepilar/wayfinder; public demo https://andromedaweb.store/wayfinder/; docs/evidencia/busqueda/README.md; docs/entrega/bob-live-vgg.json; entrenamiento/RESULTADO-CONTRASTES-V1.json. Synthetic measurements are labeled on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measured instant search on the same ninety-two synthetic Spanish validation questions and thirty-five hundred and twelve documents. Wayfinder reached sixty-nine point six percent top-one, compared with sixty-six point three for BM25. In a separate controlled sixteen-procedure fixture, initial results appeared at three point four seconds and the full reviewed catalog at ten point four seconds. That timing uses simulated Bob. These are development measurements, not population-wide accuracy or proven human labor savings.</a:t>
            </a:r>
          </a:p>
          <a:p xmlns:a="http://schemas.openxmlformats.org/drawingml/2006/main">
            <a:r>
              <a:t/>
            </a:r>
          </a:p>
          <a:p xmlns:a="http://schemas.openxmlformats.org/drawingml/2006/main">
            <a:r>
              <a:t>Sources: https://github.com/candepilar/wayfinder; public demo https://andromedaweb.store/wayfinder/; docs/evidencia/busqueda/README.md; docs/entrega/bob-live-vgg.json; entrenamiento/RESULTADO-CONTRASTES-V1.json. Synthetic measurements are labeled on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also explored a small multilingual IBM Granite retrieval model using thirty-seven hundred and fifty public procedure records and English and Spanish examples. It remains separate from production. Later training did not improve our validation results, so we preserved the previous candidate rather than claiming a breakthrough. The live product continues to use instant search and Bob. Independent citizen queries and a deployment benchmark are the next gates for that research.</a:t>
            </a:r>
          </a:p>
          <a:p xmlns:a="http://schemas.openxmlformats.org/drawingml/2006/main">
            <a:r>
              <a:t/>
            </a:r>
          </a:p>
          <a:p xmlns:a="http://schemas.openxmlformats.org/drawingml/2006/main">
            <a:r>
              <a:t>Sources: https://github.com/candepilar/wayfinder; public demo https://andromedaweb.store/wayfinder/; docs/evidencia/busqueda/README.md; docs/entrega/bob-live-vgg.json; entrenamiento/RESULTADO-CONTRASTES-V1.json. Synthetic measurements are labeled on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prototype is online and the repository is public. You can try the web demonstration or install the extension in developer mode. Our next step is to test complete citizen journeys and measure maintenance work with real site teams. Wayfinder guides people to official services, and gives the team responsible for those services a way to inspect and maintain the information. Thank you.</a:t>
            </a:r>
          </a:p>
          <a:p xmlns:a="http://schemas.openxmlformats.org/drawingml/2006/main">
            <a:r>
              <a:t/>
            </a:r>
          </a:p>
          <a:p xmlns:a="http://schemas.openxmlformats.org/drawingml/2006/main">
            <a:r>
              <a:t>Sources: https://github.com/candepilar/wayfinder; public demo https://andromedaweb.store/wayfinder/; docs/evidencia/busqueda/README.md; docs/entrega/bob-live-vgg.json; entrenamiento/RESULTADO-CONTRASTES-V1.json. Synthetic measurements are labeled on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dda568a98814a9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20ffd26894640a1" /><Relationship Type="http://schemas.openxmlformats.org/officeDocument/2006/relationships/slideLayout" Target="/ppt/slideLayouts/slideLayout1.xml" Id="Rb16d66c6b99940c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6d66c6b99940c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da026a82bc242f8" /><Relationship Type="http://schemas.openxmlformats.org/officeDocument/2006/relationships/notesSlide" Target="/ppt/notesSlides/notesSlide1.xml" Id="Rf1a986ad38904d6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d977f07396b47fa" /><Relationship Type="http://schemas.openxmlformats.org/officeDocument/2006/relationships/image" Target="/ppt/media/image.jpeg" Id="Rd43a0b1df5ae42d1" /><Relationship Type="http://schemas.openxmlformats.org/officeDocument/2006/relationships/notesSlide" Target="/ppt/notesSlides/notesSlide2.xml" Id="Rf51c29e71ee540b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002df0d800b4bef" /><Relationship Type="http://schemas.openxmlformats.org/officeDocument/2006/relationships/image" Target="/ppt/media/image2.jpeg" Id="R22d0a669cce24d26" /><Relationship Type="http://schemas.openxmlformats.org/officeDocument/2006/relationships/notesSlide" Target="/ppt/notesSlides/notesSlide3.xml" Id="Rb8e1d6cfcd5e478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998c331152e4800" /><Relationship Type="http://schemas.openxmlformats.org/officeDocument/2006/relationships/notesSlide" Target="/ppt/notesSlides/notesSlide4.xml" Id="R389c20dba7c7479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2e95d9c06fd4802" /><Relationship Type="http://schemas.openxmlformats.org/officeDocument/2006/relationships/notesSlide" Target="/ppt/notesSlides/notesSlide5.xml" Id="Rb531704d5e6d4e2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f4108a0258244ea" /><Relationship Type="http://schemas.openxmlformats.org/officeDocument/2006/relationships/chart" Target="/ppt/slides/charts/chart1.xml" Id="R9580b6217f224690" /><Relationship Type="http://schemas.openxmlformats.org/officeDocument/2006/relationships/notesSlide" Target="/ppt/notesSlides/notesSlide6.xml" Id="Raf427e7113fa488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05dae3170c34df4" /><Relationship Type="http://schemas.openxmlformats.org/officeDocument/2006/relationships/notesSlide" Target="/ppt/notesSlides/notesSlide7.xml" Id="R839c4cb0675447a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b041e6aa5b7476c" /><Relationship Type="http://schemas.openxmlformats.org/officeDocument/2006/relationships/notesSlide" Target="/ppt/notesSlides/notesSlide8.xml" Id="R86a2655d6529418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Top-1 (%)</c:v>
          </c:tx>
          <c:spPr>
            <a:solidFill xmlns:a="http://schemas.openxmlformats.org/drawingml/2006/main">
              <a:srgbClr val="34779E"/>
            </a:solidFill>
          </c:spPr>
          <c:cat>
            <c:strRef>
              <c:f>'Chart Data'!$A$2:$A$3</c:f>
              <c:strCache>
                <c:ptCount val="2"/>
                <c:pt idx="0">
                  <c:v>Wayfinder</c:v>
                </c:pt>
                <c:pt idx="1">
                  <c:v>BM25</c:v>
                </c:pt>
              </c:strCache>
            </c:strRef>
          </c:cat>
          <c:val>
            <c:numRef>
              <c:f>'Chart Data'!$B$2:$B$3</c:f>
              <c:numCache>
                <c:formatCode>General</c:formatCode>
                <c:ptCount val="2"/>
                <c:pt idx="0">
                  <c:v>69.6</c:v>
                </c:pt>
                <c:pt idx="1">
                  <c:v>66.3</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C1B2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802B984-EC27-4BD9-B26C-59B142073572}"/>
              </a:ext>
            </a:extLst>
          </p:cNvPr>
          <p:cNvSpPr>
            <a:spLocks xmlns:a="http://schemas.openxmlformats.org/drawingml/2006/main" noGrp="1"/>
          </p:cNvSpPr>
          <p:nvPr/>
        </p:nvSpPr>
        <p:spPr>
          <a:xfrm xmlns:a="http://schemas.openxmlformats.org/drawingml/2006/main">
            <a:off x="723900" y="1047750"/>
            <a:ext cx="1047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0" b="0">
                <a:solidFill>
                  <a:srgbClr val="F5F3EC"/>
                </a:solidFill>
                <a:latin typeface="Georgia"/>
                <a:ea typeface="Georgia"/>
                <a:cs typeface="Georgia"/>
              </a:defRPr>
            </a:pPr>
            <a:r>
              <a:rPr sz="7500" b="0">
                <a:solidFill>
                  <a:srgbClr val="F5F3EC"/>
                </a:solidFill>
                <a:latin typeface="Georgia"/>
                <a:ea typeface="Georgia"/>
                <a:cs typeface="Georgia"/>
              </a:rPr>
              <a:t>Wayfinder</a:t>
            </a:r>
          </a:p>
        </p:txBody>
      </p:sp>
      <p:sp>
        <p:nvSpPr>
          <p:cNvPr id="2" name="">
            <a:extLst xmlns:a="http://schemas.openxmlformats.org/drawingml/2006/main">
              <a:ext uri="{FF2B5EF4-FFF2-40B4-BE49-F238E27FC236}">
                <a16:creationId xmlns:a16="http://schemas.microsoft.com/office/drawing/2014/main" id="{348452DE-BEA3-46B8-A998-1D0D5F5BBC5F}"/>
              </a:ext>
            </a:extLst>
          </p:cNvPr>
          <p:cNvSpPr>
            <a:spLocks xmlns:a="http://schemas.openxmlformats.org/drawingml/2006/main" noGrp="1"/>
          </p:cNvSpPr>
          <p:nvPr/>
        </p:nvSpPr>
        <p:spPr>
          <a:xfrm xmlns:a="http://schemas.openxmlformats.org/drawingml/2006/main">
            <a:off x="781050" y="25717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9CC9E5"/>
                </a:solidFill>
                <a:latin typeface="Arial"/>
                <a:ea typeface="Arial"/>
                <a:cs typeface="Arial"/>
              </a:defRPr>
            </a:pPr>
            <a:r>
              <a:rPr sz="3300" b="0">
                <a:solidFill>
                  <a:srgbClr val="9CC9E5"/>
                </a:solidFill>
                <a:latin typeface="Arial"/>
                <a:ea typeface="Arial"/>
                <a:cs typeface="Arial"/>
              </a:rPr>
              <a:t>Clear paths to public services</a:t>
            </a:r>
          </a:p>
        </p:txBody>
      </p:sp>
      <p:sp>
        <p:nvSpPr>
          <p:cNvPr id="3" name="">
            <a:extLst xmlns:a="http://schemas.openxmlformats.org/drawingml/2006/main">
              <a:ext uri="{FF2B5EF4-FFF2-40B4-BE49-F238E27FC236}">
                <a16:creationId xmlns:a16="http://schemas.microsoft.com/office/drawing/2014/main" id="{709B2C6D-11E4-4630-BADA-E803DA55DC0B}"/>
              </a:ext>
            </a:extLst>
          </p:cNvPr>
          <p:cNvSpPr>
            <a:spLocks xmlns:a="http://schemas.openxmlformats.org/drawingml/2006/main" noGrp="1"/>
          </p:cNvSpPr>
          <p:nvPr/>
        </p:nvSpPr>
        <p:spPr>
          <a:xfrm xmlns:a="http://schemas.openxmlformats.org/drawingml/2006/main">
            <a:off x="781050" y="3762375"/>
            <a:ext cx="10001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5F3EC"/>
                </a:solidFill>
                <a:latin typeface="Arial"/>
                <a:ea typeface="Arial"/>
                <a:cs typeface="Arial"/>
              </a:defRPr>
            </a:pPr>
            <a:r>
              <a:rPr sz="2250" b="0">
                <a:solidFill>
                  <a:srgbClr val="F5F3EC"/>
                </a:solidFill>
                <a:latin typeface="Arial"/>
                <a:ea typeface="Arial"/>
                <a:cs typeface="Arial"/>
              </a:rPr>
              <a:t>A browser guide for citizens.</a:t>
            </a:r>
          </a:p>
          <a:p xmlns:a="http://schemas.openxmlformats.org/drawingml/2006/main">
            <a:pPr>
              <a:defRPr sz="2250" b="0">
                <a:solidFill>
                  <a:srgbClr val="F5F3EC"/>
                </a:solidFill>
                <a:latin typeface="Arial"/>
                <a:ea typeface="Arial"/>
                <a:cs typeface="Arial"/>
              </a:defRPr>
            </a:pPr>
            <a:r>
              <a:rPr sz="2250" b="0">
                <a:solidFill>
                  <a:srgbClr val="F5F3EC"/>
                </a:solidFill>
                <a:latin typeface="Arial"/>
                <a:ea typeface="Arial"/>
                <a:cs typeface="Arial"/>
              </a:rPr>
              <a:t>A catalog maintenance workflow built with IBM Bob.</a:t>
            </a:r>
          </a:p>
        </p:txBody>
      </p:sp>
      <p:sp>
        <p:nvSpPr>
          <p:cNvPr id="4" name="">
            <a:extLst xmlns:a="http://schemas.openxmlformats.org/drawingml/2006/main">
              <a:ext uri="{FF2B5EF4-FFF2-40B4-BE49-F238E27FC236}">
                <a16:creationId xmlns:a16="http://schemas.microsoft.com/office/drawing/2014/main" id="{438B434F-40E1-4D4D-BFBC-346D66408CD9}"/>
              </a:ext>
            </a:extLst>
          </p:cNvPr>
          <p:cNvSpPr>
            <a:spLocks xmlns:a="http://schemas.openxmlformats.org/drawingml/2006/main" noGrp="1"/>
          </p:cNvSpPr>
          <p:nvPr/>
        </p:nvSpPr>
        <p:spPr>
          <a:xfrm xmlns:a="http://schemas.openxmlformats.org/drawingml/2006/main">
            <a:off x="628650" y="606742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AFBECC"/>
                </a:solidFill>
                <a:latin typeface="Arial"/>
                <a:ea typeface="Arial"/>
                <a:cs typeface="Arial"/>
              </a:defRPr>
            </a:pPr>
            <a:r>
              <a:rPr sz="1275" b="0">
                <a:solidFill>
                  <a:srgbClr val="AFBECC"/>
                </a:solidFill>
                <a:latin typeface="Arial"/>
                <a:ea typeface="Arial"/>
                <a:cs typeface="Arial"/>
              </a:rPr>
              <a:t>Candela + Franco Ledesma   /   IBM Bob 2.0 Hackathon</a:t>
            </a:r>
          </a:p>
        </p:txBody>
      </p:sp>
    </p:spTree>
    <p:extLst>
      <p:ext uri="{BB962C8B-B14F-4D97-AF65-F5344CB8AC3E}">
        <p14:creationId xmlns:p14="http://schemas.microsoft.com/office/powerpoint/2010/main" val="1562894474"/>
      </p:ext>
    </p:extLst>
  </p:cSld>
</p:sld>
</file>

<file path=ppt/slides/slide2.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C41DC25-2450-4965-BEBC-F6FCBC338ADF}"/>
              </a:ext>
            </a:extLst>
          </p:cNvPr>
          <p:cNvSpPr>
            <a:spLocks xmlns:a="http://schemas.openxmlformats.org/drawingml/2006/main" noGrp="1"/>
          </p:cNvSpPr>
          <p:nvPr/>
        </p:nvSpPr>
        <p:spPr>
          <a:xfrm xmlns:a="http://schemas.openxmlformats.org/drawingml/2006/main">
            <a:off x="609600" y="457200"/>
            <a:ext cx="10934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13283B"/>
                </a:solidFill>
                <a:latin typeface="Georgia"/>
                <a:ea typeface="Georgia"/>
                <a:cs typeface="Georgia"/>
              </a:defRPr>
            </a:pPr>
            <a:r>
              <a:rPr sz="3600" b="0">
                <a:solidFill>
                  <a:srgbClr val="13283B"/>
                </a:solidFill>
                <a:latin typeface="Georgia"/>
                <a:ea typeface="Georgia"/>
                <a:cs typeface="Georgia"/>
              </a:rPr>
              <a:t>The maintenance problem</a:t>
            </a:r>
          </a:p>
        </p:txBody>
      </p:sp>
      <p:sp>
        <p:nvSpPr>
          <p:cNvPr id="2" name="">
            <a:extLst xmlns:a="http://schemas.openxmlformats.org/drawingml/2006/main">
              <a:ext uri="{FF2B5EF4-FFF2-40B4-BE49-F238E27FC236}">
                <a16:creationId xmlns:a16="http://schemas.microsoft.com/office/drawing/2014/main" id="{E8526AB5-619B-4F36-8DC0-892FFD901F8F}"/>
              </a:ext>
            </a:extLst>
          </p:cNvPr>
          <p:cNvSpPr>
            <a:spLocks xmlns:a="http://schemas.openxmlformats.org/drawingml/2006/main" noGrp="1"/>
          </p:cNvSpPr>
          <p:nvPr/>
        </p:nvSpPr>
        <p:spPr>
          <a:xfrm xmlns:a="http://schemas.openxmlformats.org/drawingml/2006/main">
            <a:off x="609600" y="1428750"/>
            <a:ext cx="3714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86A93"/>
                </a:solidFill>
                <a:latin typeface="Arial"/>
                <a:ea typeface="Arial"/>
                <a:cs typeface="Arial"/>
              </a:defRPr>
            </a:pPr>
            <a:r>
              <a:rPr sz="2325" b="1">
                <a:solidFill>
                  <a:srgbClr val="286A93"/>
                </a:solidFill>
                <a:latin typeface="Arial"/>
                <a:ea typeface="Arial"/>
                <a:cs typeface="Arial"/>
              </a:rPr>
              <a:t>The citizen searches.</a:t>
            </a:r>
          </a:p>
          <a:p xmlns:a="http://schemas.openxmlformats.org/drawingml/2006/main">
            <a:pPr>
              <a:defRPr sz="2325" b="1">
                <a:solidFill>
                  <a:srgbClr val="286A93"/>
                </a:solidFill>
                <a:latin typeface="Arial"/>
                <a:ea typeface="Arial"/>
                <a:cs typeface="Arial"/>
              </a:defRPr>
            </a:pPr>
            <a:r>
              <a:rPr sz="2325" b="1">
                <a:solidFill>
                  <a:srgbClr val="286A93"/>
                </a:solidFill>
                <a:latin typeface="Arial"/>
                <a:ea typeface="Arial"/>
                <a:cs typeface="Arial"/>
              </a:rPr>
              <a:t>The team repeats the work.</a:t>
            </a:r>
          </a:p>
        </p:txBody>
      </p:sp>
      <p:sp>
        <p:nvSpPr>
          <p:cNvPr id="3" name="">
            <a:extLst xmlns:a="http://schemas.openxmlformats.org/drawingml/2006/main">
              <a:ext uri="{FF2B5EF4-FFF2-40B4-BE49-F238E27FC236}">
                <a16:creationId xmlns:a16="http://schemas.microsoft.com/office/drawing/2014/main" id="{8BB91DA4-7367-435F-916E-0A077F0F9EFA}"/>
              </a:ext>
            </a:extLst>
          </p:cNvPr>
          <p:cNvSpPr>
            <a:spLocks xmlns:a="http://schemas.openxmlformats.org/drawingml/2006/main" noGrp="1"/>
          </p:cNvSpPr>
          <p:nvPr/>
        </p:nvSpPr>
        <p:spPr>
          <a:xfrm xmlns:a="http://schemas.openxmlformats.org/drawingml/2006/main">
            <a:off x="609600" y="2743200"/>
            <a:ext cx="3667125"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3283B"/>
                </a:solidFill>
                <a:latin typeface="Arial"/>
                <a:ea typeface="Arial"/>
                <a:cs typeface="Arial"/>
              </a:defRPr>
            </a:pPr>
            <a:r>
              <a:rPr sz="1875" b="0">
                <a:solidFill>
                  <a:srgbClr val="13283B"/>
                </a:solidFill>
                <a:latin typeface="Arial"/>
                <a:ea typeface="Arial"/>
                <a:cs typeface="Arial"/>
              </a:rPr>
              <a:t>Requirements and entry points are scattered across pages.</a:t>
            </a:r>
          </a:p>
          <a:p xmlns:a="http://schemas.openxmlformats.org/drawingml/2006/main">
            <a:r>
              <a:t/>
            </a:r>
          </a:p>
          <a:p xmlns:a="http://schemas.openxmlformats.org/drawingml/2006/main">
            <a:pPr>
              <a:defRPr sz="1875" b="0">
                <a:solidFill>
                  <a:srgbClr val="13283B"/>
                </a:solidFill>
                <a:latin typeface="Arial"/>
                <a:ea typeface="Arial"/>
                <a:cs typeface="Arial"/>
              </a:defRPr>
            </a:pPr>
            <a:r>
              <a:rPr sz="1875" b="0">
                <a:solidFill>
                  <a:srgbClr val="13283B"/>
                </a:solidFill>
                <a:latin typeface="Arial"/>
                <a:ea typeface="Arial"/>
                <a:cs typeface="Arial"/>
              </a:rPr>
              <a:t>Teams must collect evidence, check changes and repair navigation.</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43a0b1df5ae42d1"/>
          <a:stretch xmlns:a="http://schemas.openxmlformats.org/drawingml/2006/main"/>
        </p:blipFill>
        <p:spPr>
          <a:xfrm xmlns:a="http://schemas.openxmlformats.org/drawingml/2006/main">
            <a:off x="4552950" y="1600643"/>
            <a:ext cx="7029450" cy="395199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D63A50E-267C-404F-B022-5863C00AA808}"/>
              </a:ext>
            </a:extLst>
          </p:cNvPr>
          <p:cNvSpPr>
            <a:spLocks xmlns:a="http://schemas.openxmlformats.org/drawingml/2006/main" noGrp="1"/>
          </p:cNvSpPr>
          <p:nvPr/>
        </p:nvSpPr>
        <p:spPr>
          <a:xfrm xmlns:a="http://schemas.openxmlformats.org/drawingml/2006/main">
            <a:off x="628650" y="606742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56777"/>
                </a:solidFill>
                <a:latin typeface="Arial"/>
                <a:ea typeface="Arial"/>
                <a:cs typeface="Arial"/>
              </a:defRPr>
            </a:pPr>
            <a:r>
              <a:rPr sz="1275" b="0">
                <a:solidFill>
                  <a:srgbClr val="556777"/>
                </a:solidFill>
                <a:latin typeface="Arial"/>
                <a:ea typeface="Arial"/>
                <a:cs typeface="Arial"/>
              </a:rPr>
              <a:t>Current public prototype. Coverage is limited to the pages read.</a:t>
            </a:r>
          </a:p>
        </p:txBody>
      </p:sp>
    </p:spTree>
    <p:extLst>
      <p:ext uri="{BB962C8B-B14F-4D97-AF65-F5344CB8AC3E}">
        <p14:creationId xmlns:p14="http://schemas.microsoft.com/office/powerpoint/2010/main" val="334655949"/>
      </p:ext>
    </p:extLst>
  </p:cSld>
</p:sld>
</file>

<file path=ppt/slides/slide3.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16BF217-22C6-4C36-B93F-388CF3E7B786}"/>
              </a:ext>
            </a:extLst>
          </p:cNvPr>
          <p:cNvSpPr>
            <a:spLocks xmlns:a="http://schemas.openxmlformats.org/drawingml/2006/main" noGrp="1"/>
          </p:cNvSpPr>
          <p:nvPr/>
        </p:nvSpPr>
        <p:spPr>
          <a:xfrm xmlns:a="http://schemas.openxmlformats.org/drawingml/2006/main">
            <a:off x="609600" y="457200"/>
            <a:ext cx="10934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13283B"/>
                </a:solidFill>
                <a:latin typeface="Georgia"/>
                <a:ea typeface="Georgia"/>
                <a:cs typeface="Georgia"/>
              </a:defRPr>
            </a:pPr>
            <a:r>
              <a:rPr sz="3600" b="0">
                <a:solidFill>
                  <a:srgbClr val="13283B"/>
                </a:solidFill>
                <a:latin typeface="Georgia"/>
                <a:ea typeface="Georgia"/>
                <a:cs typeface="Georgia"/>
              </a:rPr>
              <a:t>A citizen’s next step</a:t>
            </a:r>
          </a:p>
        </p:txBody>
      </p:sp>
      <p:sp>
        <p:nvSpPr>
          <p:cNvPr id="2" name="">
            <a:extLst xmlns:a="http://schemas.openxmlformats.org/drawingml/2006/main">
              <a:ext uri="{FF2B5EF4-FFF2-40B4-BE49-F238E27FC236}">
                <a16:creationId xmlns:a16="http://schemas.microsoft.com/office/drawing/2014/main" id="{48EA4C51-C734-47A2-A0CD-7A66DA84CB4C}"/>
              </a:ext>
            </a:extLst>
          </p:cNvPr>
          <p:cNvSpPr>
            <a:spLocks xmlns:a="http://schemas.openxmlformats.org/drawingml/2006/main" noGrp="1"/>
          </p:cNvSpPr>
          <p:nvPr/>
        </p:nvSpPr>
        <p:spPr>
          <a:xfrm xmlns:a="http://schemas.openxmlformats.org/drawingml/2006/main">
            <a:off x="609600" y="1428750"/>
            <a:ext cx="3714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86A93"/>
                </a:solidFill>
                <a:latin typeface="Arial"/>
                <a:ea typeface="Arial"/>
                <a:cs typeface="Arial"/>
              </a:defRPr>
            </a:pPr>
            <a:r>
              <a:rPr sz="2325" b="1">
                <a:solidFill>
                  <a:srgbClr val="286A93"/>
                </a:solidFill>
                <a:latin typeface="Arial"/>
                <a:ea typeface="Arial"/>
                <a:cs typeface="Arial"/>
              </a:rPr>
              <a:t>Ask in everyday language.</a:t>
            </a:r>
          </a:p>
          <a:p xmlns:a="http://schemas.openxmlformats.org/drawingml/2006/main">
            <a:pPr>
              <a:defRPr sz="2325" b="1">
                <a:solidFill>
                  <a:srgbClr val="286A93"/>
                </a:solidFill>
                <a:latin typeface="Arial"/>
                <a:ea typeface="Arial"/>
                <a:cs typeface="Arial"/>
              </a:defRPr>
            </a:pPr>
            <a:r>
              <a:rPr sz="2325" b="1">
                <a:solidFill>
                  <a:srgbClr val="286A93"/>
                </a:solidFill>
                <a:latin typeface="Arial"/>
                <a:ea typeface="Arial"/>
                <a:cs typeface="Arial"/>
              </a:rPr>
              <a:t>Keep the official source.</a:t>
            </a:r>
          </a:p>
        </p:txBody>
      </p:sp>
      <p:sp>
        <p:nvSpPr>
          <p:cNvPr id="3" name="">
            <a:extLst xmlns:a="http://schemas.openxmlformats.org/drawingml/2006/main">
              <a:ext uri="{FF2B5EF4-FFF2-40B4-BE49-F238E27FC236}">
                <a16:creationId xmlns:a16="http://schemas.microsoft.com/office/drawing/2014/main" id="{B34806CD-86E0-47B1-8655-43DD062C3752}"/>
              </a:ext>
            </a:extLst>
          </p:cNvPr>
          <p:cNvSpPr>
            <a:spLocks xmlns:a="http://schemas.openxmlformats.org/drawingml/2006/main" noGrp="1"/>
          </p:cNvSpPr>
          <p:nvPr/>
        </p:nvSpPr>
        <p:spPr>
          <a:xfrm xmlns:a="http://schemas.openxmlformats.org/drawingml/2006/main">
            <a:off x="609600" y="2743200"/>
            <a:ext cx="3667125"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3283B"/>
                </a:solidFill>
                <a:latin typeface="Arial"/>
                <a:ea typeface="Arial"/>
                <a:cs typeface="Arial"/>
              </a:defRPr>
            </a:pPr>
            <a:r>
              <a:rPr sz="1875" b="0">
                <a:solidFill>
                  <a:srgbClr val="13283B"/>
                </a:solidFill>
                <a:latin typeface="Arial"/>
                <a:ea typeface="Arial"/>
                <a:cs typeface="Arial"/>
              </a:rPr>
              <a:t>Find a procedure and inspect its evidence.</a:t>
            </a:r>
          </a:p>
          <a:p xmlns:a="http://schemas.openxmlformats.org/drawingml/2006/main">
            <a:r>
              <a:t/>
            </a:r>
          </a:p>
          <a:p xmlns:a="http://schemas.openxmlformats.org/drawingml/2006/main">
            <a:pPr>
              <a:defRPr sz="1875" b="0">
                <a:solidFill>
                  <a:srgbClr val="13283B"/>
                </a:solidFill>
                <a:latin typeface="Arial"/>
                <a:ea typeface="Arial"/>
                <a:cs typeface="Arial"/>
              </a:defRPr>
            </a:pPr>
            <a:r>
              <a:rPr sz="1875" b="0">
                <a:solidFill>
                  <a:srgbClr val="13283B"/>
                </a:solidFill>
                <a:latin typeface="Arial"/>
                <a:ea typeface="Arial"/>
                <a:cs typeface="Arial"/>
              </a:rPr>
              <a:t>Open the official entry point, or the source page when no direct link was identified.</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2d0a669cce24d26"/>
          <a:stretch xmlns:a="http://schemas.openxmlformats.org/drawingml/2006/main"/>
        </p:blipFill>
        <p:spPr>
          <a:xfrm xmlns:a="http://schemas.openxmlformats.org/drawingml/2006/main">
            <a:off x="4552950" y="1600643"/>
            <a:ext cx="7029450" cy="395199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DCD6E90-373C-4F47-AC6E-6CC18469E894}"/>
              </a:ext>
            </a:extLst>
          </p:cNvPr>
          <p:cNvSpPr>
            <a:spLocks xmlns:a="http://schemas.openxmlformats.org/drawingml/2006/main" noGrp="1"/>
          </p:cNvSpPr>
          <p:nvPr/>
        </p:nvSpPr>
        <p:spPr>
          <a:xfrm xmlns:a="http://schemas.openxmlformats.org/drawingml/2006/main">
            <a:off x="628650" y="606742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56777"/>
                </a:solidFill>
                <a:latin typeface="Arial"/>
                <a:ea typeface="Arial"/>
                <a:cs typeface="Arial"/>
              </a:defRPr>
            </a:pPr>
            <a:r>
              <a:rPr sz="1275" b="0">
                <a:solidFill>
                  <a:srgbClr val="556777"/>
                </a:solidFill>
                <a:latin typeface="Arial"/>
                <a:ea typeface="Arial"/>
                <a:cs typeface="Arial"/>
              </a:rPr>
              <a:t>Live VGG web demo. The citizen completes the procedure on the official site.</a:t>
            </a:r>
          </a:p>
        </p:txBody>
      </p:sp>
    </p:spTree>
    <p:extLst>
      <p:ext uri="{BB962C8B-B14F-4D97-AF65-F5344CB8AC3E}">
        <p14:creationId xmlns:p14="http://schemas.microsoft.com/office/powerpoint/2010/main" val="1763468366"/>
      </p:ext>
    </p:extLst>
  </p:cSld>
</p:sld>
</file>

<file path=ppt/slides/slide4.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9C64B77-778F-4EB1-A588-A7FB9B2B331C}"/>
              </a:ext>
            </a:extLst>
          </p:cNvPr>
          <p:cNvSpPr>
            <a:spLocks xmlns:a="http://schemas.openxmlformats.org/drawingml/2006/main" noGrp="1"/>
          </p:cNvSpPr>
          <p:nvPr/>
        </p:nvSpPr>
        <p:spPr>
          <a:xfrm xmlns:a="http://schemas.openxmlformats.org/drawingml/2006/main">
            <a:off x="609600" y="457200"/>
            <a:ext cx="10934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13283B"/>
                </a:solidFill>
                <a:latin typeface="Georgia"/>
                <a:ea typeface="Georgia"/>
                <a:cs typeface="Georgia"/>
              </a:defRPr>
            </a:pPr>
            <a:r>
              <a:rPr sz="3600" b="0">
                <a:solidFill>
                  <a:srgbClr val="13283B"/>
                </a:solidFill>
                <a:latin typeface="Georgia"/>
                <a:ea typeface="Georgia"/>
                <a:cs typeface="Georgia"/>
              </a:rPr>
              <a:t>The site team’s workflow</a:t>
            </a:r>
          </a:p>
        </p:txBody>
      </p:sp>
      <p:sp>
        <p:nvSpPr>
          <p:cNvPr id="2" name="">
            <a:extLst xmlns:a="http://schemas.openxmlformats.org/drawingml/2006/main">
              <a:ext uri="{FF2B5EF4-FFF2-40B4-BE49-F238E27FC236}">
                <a16:creationId xmlns:a16="http://schemas.microsoft.com/office/drawing/2014/main" id="{6D54DE15-C220-4A96-8288-741BE9A17467}"/>
              </a:ext>
            </a:extLst>
          </p:cNvPr>
          <p:cNvSpPr>
            <a:spLocks xmlns:a="http://schemas.openxmlformats.org/drawingml/2006/main" noGrp="1"/>
          </p:cNvSpPr>
          <p:nvPr/>
        </p:nvSpPr>
        <p:spPr>
          <a:xfrm xmlns:a="http://schemas.openxmlformats.org/drawingml/2006/main">
            <a:off x="609600" y="142875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286A93"/>
                </a:solidFill>
                <a:latin typeface="Arial"/>
                <a:ea typeface="Arial"/>
                <a:cs typeface="Arial"/>
              </a:defRPr>
            </a:pPr>
            <a:r>
              <a:rPr sz="2850" b="1">
                <a:solidFill>
                  <a:srgbClr val="286A93"/>
                </a:solidFill>
                <a:latin typeface="Arial"/>
                <a:ea typeface="Arial"/>
                <a:cs typeface="Arial"/>
              </a:rPr>
              <a:t>A catalog that can be audited and maintained</a:t>
            </a:r>
          </a:p>
        </p:txBody>
      </p:sp>
      <p:sp>
        <p:nvSpPr>
          <p:cNvPr id="3" name="">
            <a:extLst xmlns:a="http://schemas.openxmlformats.org/drawingml/2006/main">
              <a:ext uri="{FF2B5EF4-FFF2-40B4-BE49-F238E27FC236}">
                <a16:creationId xmlns:a16="http://schemas.microsoft.com/office/drawing/2014/main" id="{2A0E4A97-038F-4E59-B3C7-28956B9C02E4}"/>
              </a:ext>
            </a:extLst>
          </p:cNvPr>
          <p:cNvSpPr>
            <a:spLocks xmlns:a="http://schemas.openxmlformats.org/drawingml/2006/main" noGrp="1"/>
          </p:cNvSpPr>
          <p:nvPr/>
        </p:nvSpPr>
        <p:spPr>
          <a:xfrm xmlns:a="http://schemas.openxmlformats.org/drawingml/2006/main">
            <a:off x="628650" y="2714625"/>
            <a:ext cx="10668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3283B"/>
                </a:solidFill>
                <a:latin typeface="Arial"/>
                <a:ea typeface="Arial"/>
                <a:cs typeface="Arial"/>
              </a:defRPr>
            </a:pPr>
            <a:r>
              <a:rPr sz="2250" b="0">
                <a:solidFill>
                  <a:srgbClr val="13283B"/>
                </a:solidFill>
                <a:latin typeface="Arial"/>
                <a:ea typeface="Arial"/>
                <a:cs typeface="Arial"/>
              </a:rPr>
              <a:t>Read public pages and retain source blocks.</a:t>
            </a:r>
          </a:p>
          <a:p xmlns:a="http://schemas.openxmlformats.org/drawingml/2006/main">
            <a:r>
              <a:t/>
            </a:r>
          </a:p>
          <a:p xmlns:a="http://schemas.openxmlformats.org/drawingml/2006/main">
            <a:pPr>
              <a:defRPr sz="2250" b="0">
                <a:solidFill>
                  <a:srgbClr val="13283B"/>
                </a:solidFill>
                <a:latin typeface="Arial"/>
                <a:ea typeface="Arial"/>
                <a:cs typeface="Arial"/>
              </a:defRPr>
            </a:pPr>
            <a:r>
              <a:rPr sz="2250" b="0">
                <a:solidFill>
                  <a:srgbClr val="13283B"/>
                </a:solidFill>
                <a:latin typeface="Arial"/>
                <a:ea typeface="Arial"/>
                <a:cs typeface="Arial"/>
              </a:rPr>
              <a:t>Organize records with bounded Bob tasks.</a:t>
            </a:r>
          </a:p>
          <a:p xmlns:a="http://schemas.openxmlformats.org/drawingml/2006/main">
            <a:r>
              <a:t/>
            </a:r>
          </a:p>
          <a:p xmlns:a="http://schemas.openxmlformats.org/drawingml/2006/main">
            <a:pPr>
              <a:defRPr sz="2250" b="0">
                <a:solidFill>
                  <a:srgbClr val="13283B"/>
                </a:solidFill>
                <a:latin typeface="Arial"/>
                <a:ea typeface="Arial"/>
                <a:cs typeface="Arial"/>
              </a:defRPr>
            </a:pPr>
            <a:r>
              <a:rPr sz="2250" b="0">
                <a:solidFill>
                  <a:srgbClr val="13283B"/>
                </a:solidFill>
                <a:latin typeface="Arial"/>
                <a:ea typeface="Arial"/>
                <a:cs typeface="Arial"/>
              </a:rPr>
              <a:t>Review the records, compare changes and export an A–Z index.</a:t>
            </a:r>
          </a:p>
        </p:txBody>
      </p:sp>
      <p:sp>
        <p:nvSpPr>
          <p:cNvPr id="4" name="">
            <a:extLst xmlns:a="http://schemas.openxmlformats.org/drawingml/2006/main">
              <a:ext uri="{FF2B5EF4-FFF2-40B4-BE49-F238E27FC236}">
                <a16:creationId xmlns:a16="http://schemas.microsoft.com/office/drawing/2014/main" id="{3AF0C20D-C330-4970-AA47-294990774F4C}"/>
              </a:ext>
            </a:extLst>
          </p:cNvPr>
          <p:cNvSpPr>
            <a:spLocks xmlns:a="http://schemas.openxmlformats.org/drawingml/2006/main" noGrp="1"/>
          </p:cNvSpPr>
          <p:nvPr/>
        </p:nvSpPr>
        <p:spPr>
          <a:xfrm xmlns:a="http://schemas.openxmlformats.org/drawingml/2006/main">
            <a:off x="628650" y="606742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56777"/>
                </a:solidFill>
                <a:latin typeface="Arial"/>
                <a:ea typeface="Arial"/>
                <a:cs typeface="Arial"/>
              </a:defRPr>
            </a:pPr>
            <a:r>
              <a:rPr sz="1275" b="0">
                <a:solidFill>
                  <a:srgbClr val="556777"/>
                </a:solidFill>
                <a:latin typeface="Arial"/>
                <a:ea typeface="Arial"/>
                <a:cs typeface="Arial"/>
              </a:rPr>
              <a:t>Custom IDE modes and skills are included. The MCP service exposes six read-only tools.</a:t>
            </a:r>
          </a:p>
        </p:txBody>
      </p:sp>
    </p:spTree>
    <p:extLst>
      <p:ext uri="{BB962C8B-B14F-4D97-AF65-F5344CB8AC3E}">
        <p14:creationId xmlns:p14="http://schemas.microsoft.com/office/powerpoint/2010/main" val="1534160194"/>
      </p:ext>
    </p:extLst>
  </p:cSld>
</p:sld>
</file>

<file path=ppt/slides/slide5.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C2D3CE7-3494-4B65-92BA-71EBD58FBDAF}"/>
              </a:ext>
            </a:extLst>
          </p:cNvPr>
          <p:cNvSpPr>
            <a:spLocks xmlns:a="http://schemas.openxmlformats.org/drawingml/2006/main" noGrp="1"/>
          </p:cNvSpPr>
          <p:nvPr/>
        </p:nvSpPr>
        <p:spPr>
          <a:xfrm xmlns:a="http://schemas.openxmlformats.org/drawingml/2006/main">
            <a:off x="609600" y="457200"/>
            <a:ext cx="10934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13283B"/>
                </a:solidFill>
                <a:latin typeface="Georgia"/>
                <a:ea typeface="Georgia"/>
                <a:cs typeface="Georgia"/>
              </a:defRPr>
            </a:pPr>
            <a:r>
              <a:rPr sz="3600" b="0">
                <a:solidFill>
                  <a:srgbClr val="13283B"/>
                </a:solidFill>
                <a:latin typeface="Georgia"/>
                <a:ea typeface="Georgia"/>
                <a:cs typeface="Georgia"/>
              </a:rPr>
              <a:t>What IBM Bob actually does</a:t>
            </a:r>
          </a:p>
        </p:txBody>
      </p:sp>
      <p:sp>
        <p:nvSpPr>
          <p:cNvPr id="2" name="">
            <a:extLst xmlns:a="http://schemas.openxmlformats.org/drawingml/2006/main">
              <a:ext uri="{FF2B5EF4-FFF2-40B4-BE49-F238E27FC236}">
                <a16:creationId xmlns:a16="http://schemas.microsoft.com/office/drawing/2014/main" id="{01727F3D-3806-4056-AD22-6B9B8E7D5302}"/>
              </a:ext>
            </a:extLst>
          </p:cNvPr>
          <p:cNvSpPr>
            <a:spLocks xmlns:a="http://schemas.openxmlformats.org/drawingml/2006/main" noGrp="1"/>
          </p:cNvSpPr>
          <p:nvPr/>
        </p:nvSpPr>
        <p:spPr>
          <a:xfrm xmlns:a="http://schemas.openxmlformats.org/drawingml/2006/main">
            <a:off x="609600" y="142875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286A93"/>
                </a:solidFill>
                <a:latin typeface="Arial"/>
                <a:ea typeface="Arial"/>
                <a:cs typeface="Arial"/>
              </a:defRPr>
            </a:pPr>
            <a:r>
              <a:rPr sz="2850" b="1">
                <a:solidFill>
                  <a:srgbClr val="286A93"/>
                </a:solidFill>
                <a:latin typeface="Arial"/>
                <a:ea typeface="Arial"/>
                <a:cs typeface="Arial"/>
              </a:rPr>
              <a:t>Runtime work, with inspectable evidence</a:t>
            </a:r>
          </a:p>
        </p:txBody>
      </p:sp>
      <p:sp>
        <p:nvSpPr>
          <p:cNvPr id="3" name="">
            <a:extLst xmlns:a="http://schemas.openxmlformats.org/drawingml/2006/main">
              <a:ext uri="{FF2B5EF4-FFF2-40B4-BE49-F238E27FC236}">
                <a16:creationId xmlns:a16="http://schemas.microsoft.com/office/drawing/2014/main" id="{3C4D6575-6E65-4436-9A06-BDC7C45994B3}"/>
              </a:ext>
            </a:extLst>
          </p:cNvPr>
          <p:cNvSpPr>
            <a:spLocks xmlns:a="http://schemas.openxmlformats.org/drawingml/2006/main" noGrp="1"/>
          </p:cNvSpPr>
          <p:nvPr/>
        </p:nvSpPr>
        <p:spPr>
          <a:xfrm xmlns:a="http://schemas.openxmlformats.org/drawingml/2006/main">
            <a:off x="628650" y="2714625"/>
            <a:ext cx="10668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3283B"/>
                </a:solidFill>
                <a:latin typeface="Arial"/>
                <a:ea typeface="Arial"/>
                <a:cs typeface="Arial"/>
              </a:defRPr>
            </a:pPr>
            <a:r>
              <a:rPr sz="2250" b="0">
                <a:solidFill>
                  <a:srgbClr val="13283B"/>
                </a:solidFill>
                <a:latin typeface="Arial"/>
                <a:ea typeface="Arial"/>
                <a:cs typeface="Arial"/>
              </a:rPr>
              <a:t>Bob Shell organizes catalogs and guides queries.</a:t>
            </a:r>
          </a:p>
          <a:p xmlns:a="http://schemas.openxmlformats.org/drawingml/2006/main">
            <a:r>
              <a:t/>
            </a:r>
          </a:p>
          <a:p xmlns:a="http://schemas.openxmlformats.org/drawingml/2006/main">
            <a:pPr>
              <a:defRPr sz="2250" b="0">
                <a:solidFill>
                  <a:srgbClr val="13283B"/>
                </a:solidFill>
                <a:latin typeface="Arial"/>
                <a:ea typeface="Arial"/>
                <a:cs typeface="Arial"/>
              </a:defRPr>
            </a:pPr>
            <a:r>
              <a:rPr sz="2250" b="0">
                <a:solidFill>
                  <a:srgbClr val="13283B"/>
                </a:solidFill>
                <a:latin typeface="Arial"/>
                <a:ea typeface="Arial"/>
                <a:cs typeface="Arial"/>
              </a:rPr>
              <a:t>Server validation checks block IDs, links and cited numbers.</a:t>
            </a:r>
          </a:p>
          <a:p xmlns:a="http://schemas.openxmlformats.org/drawingml/2006/main">
            <a:r>
              <a:t/>
            </a:r>
          </a:p>
          <a:p xmlns:a="http://schemas.openxmlformats.org/drawingml/2006/main">
            <a:pPr>
              <a:defRPr sz="2250" b="0">
                <a:solidFill>
                  <a:srgbClr val="13283B"/>
                </a:solidFill>
                <a:latin typeface="Arial"/>
                <a:ea typeface="Arial"/>
                <a:cs typeface="Arial"/>
              </a:defRPr>
            </a:pPr>
            <a:r>
              <a:rPr sz="2250" b="0">
                <a:solidFill>
                  <a:srgbClr val="13283B"/>
                </a:solidFill>
                <a:latin typeface="Arial"/>
                <a:ea typeface="Arial"/>
                <a:cs typeface="Arial"/>
              </a:rPr>
              <a:t>IDE assets provide coordinator, cartographer and reviewer modes.</a:t>
            </a:r>
          </a:p>
        </p:txBody>
      </p:sp>
      <p:sp>
        <p:nvSpPr>
          <p:cNvPr id="4" name="">
            <a:extLst xmlns:a="http://schemas.openxmlformats.org/drawingml/2006/main">
              <a:ext uri="{FF2B5EF4-FFF2-40B4-BE49-F238E27FC236}">
                <a16:creationId xmlns:a16="http://schemas.microsoft.com/office/drawing/2014/main" id="{6B19D530-3344-4F3D-B836-05F3371B42E2}"/>
              </a:ext>
            </a:extLst>
          </p:cNvPr>
          <p:cNvSpPr>
            <a:spLocks xmlns:a="http://schemas.openxmlformats.org/drawingml/2006/main" noGrp="1"/>
          </p:cNvSpPr>
          <p:nvPr/>
        </p:nvSpPr>
        <p:spPr>
          <a:xfrm xmlns:a="http://schemas.openxmlformats.org/drawingml/2006/main">
            <a:off x="628650" y="606742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56777"/>
                </a:solidFill>
                <a:latin typeface="Arial"/>
                <a:ea typeface="Arial"/>
                <a:cs typeface="Arial"/>
              </a:defRPr>
            </a:pPr>
            <a:r>
              <a:rPr sz="1275" b="0">
                <a:solidFill>
                  <a:srgbClr val="556777"/>
                </a:solidFill>
                <a:latin typeface="Arial"/>
                <a:ea typeface="Arial"/>
                <a:cs typeface="Arial"/>
              </a:rPr>
              <a:t>Live assistant task: 87de54a455018f8cd803324978e2c9d3. MCP protocol checked against the public API.</a:t>
            </a:r>
          </a:p>
        </p:txBody>
      </p:sp>
    </p:spTree>
    <p:extLst>
      <p:ext uri="{BB962C8B-B14F-4D97-AF65-F5344CB8AC3E}">
        <p14:creationId xmlns:p14="http://schemas.microsoft.com/office/powerpoint/2010/main" val="173580656"/>
      </p:ext>
    </p:extLst>
  </p:cSld>
</p:sld>
</file>

<file path=ppt/slides/slide6.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BF345C4-EB71-4DFF-82E9-BC2D75B49248}"/>
              </a:ext>
            </a:extLst>
          </p:cNvPr>
          <p:cNvSpPr>
            <a:spLocks xmlns:a="http://schemas.openxmlformats.org/drawingml/2006/main" noGrp="1"/>
          </p:cNvSpPr>
          <p:nvPr/>
        </p:nvSpPr>
        <p:spPr>
          <a:xfrm xmlns:a="http://schemas.openxmlformats.org/drawingml/2006/main">
            <a:off x="609600" y="457200"/>
            <a:ext cx="10934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13283B"/>
                </a:solidFill>
                <a:latin typeface="Georgia"/>
                <a:ea typeface="Georgia"/>
                <a:cs typeface="Georgia"/>
              </a:defRPr>
            </a:pPr>
            <a:r>
              <a:rPr sz="3600" b="0">
                <a:solidFill>
                  <a:srgbClr val="13283B"/>
                </a:solidFill>
                <a:latin typeface="Georgia"/>
                <a:ea typeface="Georgia"/>
                <a:cs typeface="Georgia"/>
              </a:rPr>
              <a:t>Measured results</a:t>
            </a:r>
          </a:p>
        </p:txBody>
      </p:sp>
      <p:sp>
        <p:nvSpPr>
          <p:cNvPr id="2" name="">
            <a:extLst xmlns:a="http://schemas.openxmlformats.org/drawingml/2006/main">
              <a:ext uri="{FF2B5EF4-FFF2-40B4-BE49-F238E27FC236}">
                <a16:creationId xmlns:a16="http://schemas.microsoft.com/office/drawing/2014/main" id="{9380938B-5FEC-4F37-B12D-53564C80AAAA}"/>
              </a:ext>
            </a:extLst>
          </p:cNvPr>
          <p:cNvSpPr>
            <a:spLocks xmlns:a="http://schemas.openxmlformats.org/drawingml/2006/main" noGrp="1"/>
          </p:cNvSpPr>
          <p:nvPr/>
        </p:nvSpPr>
        <p:spPr>
          <a:xfrm xmlns:a="http://schemas.openxmlformats.org/drawingml/2006/main">
            <a:off x="609600" y="13144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86A93"/>
                </a:solidFill>
                <a:latin typeface="Arial"/>
                <a:ea typeface="Arial"/>
                <a:cs typeface="Arial"/>
              </a:defRPr>
            </a:pPr>
            <a:r>
              <a:rPr sz="2550" b="0">
                <a:solidFill>
                  <a:srgbClr val="286A93"/>
                </a:solidFill>
                <a:latin typeface="Arial"/>
                <a:ea typeface="Arial"/>
                <a:cs typeface="Arial"/>
              </a:rPr>
              <a:t>Instant search, without a model call</a:t>
            </a:r>
          </a:p>
        </p:txBody>
      </p:sp>
      <p:sp>
        <p:nvSpPr>
          <p:cNvPr id="3" name="">
            <a:extLst xmlns:a="http://schemas.openxmlformats.org/drawingml/2006/main">
              <a:ext uri="{FF2B5EF4-FFF2-40B4-BE49-F238E27FC236}">
                <a16:creationId xmlns:a16="http://schemas.microsoft.com/office/drawing/2014/main" id="{17CED5DF-0794-4209-A8DD-EEF81132B04B}"/>
              </a:ext>
            </a:extLst>
          </p:cNvPr>
          <p:cNvSpPr>
            <a:spLocks xmlns:a="http://schemas.openxmlformats.org/drawingml/2006/main" noGrp="1"/>
          </p:cNvSpPr>
          <p:nvPr/>
        </p:nvSpPr>
        <p:spPr>
          <a:xfrm xmlns:a="http://schemas.openxmlformats.org/drawingml/2006/main">
            <a:off x="619125" y="2019300"/>
            <a:ext cx="371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3283B"/>
                </a:solidFill>
                <a:latin typeface="Arial"/>
                <a:ea typeface="Arial"/>
                <a:cs typeface="Arial"/>
              </a:defRPr>
            </a:pPr>
            <a:r>
              <a:rPr sz="1875" b="0">
                <a:solidFill>
                  <a:srgbClr val="13283B"/>
                </a:solidFill>
                <a:latin typeface="Arial"/>
                <a:ea typeface="Arial"/>
                <a:cs typeface="Arial"/>
              </a:rPr>
              <a:t>Top-1 retrieval accuracy</a:t>
            </a:r>
          </a:p>
        </p:txBody>
      </p:sp>
      <p:graphicFrame>
        <p:nvGraphicFramePr>
          <p:cNvPr id="10" name="Chart"/>
          <p:cNvGraphicFramePr/>
          <p:nvPr/>
        </p:nvGraphicFramePr>
        <p:xfrm>
          <a:off xmlns:a="http://schemas.openxmlformats.org/drawingml/2006/main" x="4953000" y="2000250"/>
          <a:ext xmlns:a="http://schemas.openxmlformats.org/drawingml/2006/main" cx="6191250" cy="3286125"/>
        </p:xfrm>
        <a:graphic xmlns:a="http://schemas.openxmlformats.org/drawingml/2006/main">
          <a:graphicData uri="http://schemas.openxmlformats.org/drawingml/2006/chart">
            <c:chart xmlns:r="http://schemas.openxmlformats.org/officeDocument/2006/relationships" xmlns:c="http://schemas.openxmlformats.org/drawingml/2006/chart" r:id="R9580b6217f224690"/>
          </a:graphicData>
        </a:graphic>
      </p:graphicFrame>
      <p:sp>
        <p:nvSpPr>
          <p:cNvPr id="5" name="">
            <a:extLst xmlns:a="http://schemas.openxmlformats.org/drawingml/2006/main">
              <a:ext uri="{FF2B5EF4-FFF2-40B4-BE49-F238E27FC236}">
                <a16:creationId xmlns:a16="http://schemas.microsoft.com/office/drawing/2014/main" id="{64DB723F-4816-4E4D-9476-114490F94DF7}"/>
              </a:ext>
            </a:extLst>
          </p:cNvPr>
          <p:cNvSpPr>
            <a:spLocks xmlns:a="http://schemas.openxmlformats.org/drawingml/2006/main" noGrp="1"/>
          </p:cNvSpPr>
          <p:nvPr/>
        </p:nvSpPr>
        <p:spPr>
          <a:xfrm xmlns:a="http://schemas.openxmlformats.org/drawingml/2006/main">
            <a:off x="619125" y="2762250"/>
            <a:ext cx="3810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3283B"/>
                </a:solidFill>
                <a:latin typeface="Arial"/>
                <a:ea typeface="Arial"/>
                <a:cs typeface="Arial"/>
              </a:defRPr>
            </a:pPr>
            <a:r>
              <a:rPr sz="2100" b="0">
                <a:solidFill>
                  <a:srgbClr val="13283B"/>
                </a:solidFill>
                <a:latin typeface="Arial"/>
                <a:ea typeface="Arial"/>
                <a:cs typeface="Arial"/>
              </a:rPr>
              <a:t>92 synthetic Spanish queries</a:t>
            </a:r>
          </a:p>
          <a:p xmlns:a="http://schemas.openxmlformats.org/drawingml/2006/main">
            <a:pPr>
              <a:defRPr sz="2100" b="0">
                <a:solidFill>
                  <a:srgbClr val="13283B"/>
                </a:solidFill>
                <a:latin typeface="Arial"/>
                <a:ea typeface="Arial"/>
                <a:cs typeface="Arial"/>
              </a:defRPr>
            </a:pPr>
            <a:r>
              <a:rPr sz="2100" b="0">
                <a:solidFill>
                  <a:srgbClr val="13283B"/>
                </a:solidFill>
                <a:latin typeface="Arial"/>
                <a:ea typeface="Arial"/>
                <a:cs typeface="Arial"/>
              </a:rPr>
              <a:t>3,512 public records</a:t>
            </a:r>
          </a:p>
          <a:p xmlns:a="http://schemas.openxmlformats.org/drawingml/2006/main">
            <a:r>
              <a:t/>
            </a:r>
          </a:p>
          <a:p xmlns:a="http://schemas.openxmlformats.org/drawingml/2006/main">
            <a:pPr>
              <a:defRPr sz="2100" b="0">
                <a:solidFill>
                  <a:srgbClr val="13283B"/>
                </a:solidFill>
                <a:latin typeface="Arial"/>
                <a:ea typeface="Arial"/>
                <a:cs typeface="Arial"/>
              </a:defRPr>
            </a:pPr>
            <a:r>
              <a:rPr sz="2100" b="0">
                <a:solidFill>
                  <a:srgbClr val="13283B"/>
                </a:solidFill>
                <a:latin typeface="Arial"/>
                <a:ea typeface="Arial"/>
                <a:cs typeface="Arial"/>
              </a:rPr>
              <a:t>Same jurisdiction filter</a:t>
            </a:r>
          </a:p>
        </p:txBody>
      </p:sp>
      <p:sp>
        <p:nvSpPr>
          <p:cNvPr id="6" name="">
            <a:extLst xmlns:a="http://schemas.openxmlformats.org/drawingml/2006/main">
              <a:ext uri="{FF2B5EF4-FFF2-40B4-BE49-F238E27FC236}">
                <a16:creationId xmlns:a16="http://schemas.microsoft.com/office/drawing/2014/main" id="{3092C57A-1DB8-42B3-BE02-C78BA014CBFA}"/>
              </a:ext>
            </a:extLst>
          </p:cNvPr>
          <p:cNvSpPr>
            <a:spLocks xmlns:a="http://schemas.openxmlformats.org/drawingml/2006/main" noGrp="1"/>
          </p:cNvSpPr>
          <p:nvPr/>
        </p:nvSpPr>
        <p:spPr>
          <a:xfrm xmlns:a="http://schemas.openxmlformats.org/drawingml/2006/main">
            <a:off x="628650" y="606742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56777"/>
                </a:solidFill>
                <a:latin typeface="Arial"/>
                <a:ea typeface="Arial"/>
                <a:cs typeface="Arial"/>
              </a:defRPr>
            </a:pPr>
            <a:r>
              <a:rPr sz="1275" b="0">
                <a:solidFill>
                  <a:srgbClr val="556777"/>
                </a:solidFill>
                <a:latin typeface="Arial"/>
                <a:ea typeface="Arial"/>
                <a:cs typeface="Arial"/>
              </a:rPr>
              <a:t>Synthetic queries, 3,512 documents. Controlled fixture: first results 3.4 s, full catalog 10.4 s with simulated Bob.</a:t>
            </a:r>
          </a:p>
        </p:txBody>
      </p:sp>
    </p:spTree>
    <p:extLst>
      <p:ext uri="{BB962C8B-B14F-4D97-AF65-F5344CB8AC3E}">
        <p14:creationId xmlns:p14="http://schemas.microsoft.com/office/powerpoint/2010/main" val="1256852790"/>
      </p:ext>
    </p:extLst>
  </p:cSld>
</p:sld>
</file>

<file path=ppt/slides/slide7.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EECAFA5-AC5F-42AF-A5C0-3B0ED270E735}"/>
              </a:ext>
            </a:extLst>
          </p:cNvPr>
          <p:cNvSpPr>
            <a:spLocks xmlns:a="http://schemas.openxmlformats.org/drawingml/2006/main" noGrp="1"/>
          </p:cNvSpPr>
          <p:nvPr/>
        </p:nvSpPr>
        <p:spPr>
          <a:xfrm xmlns:a="http://schemas.openxmlformats.org/drawingml/2006/main">
            <a:off x="609600" y="457200"/>
            <a:ext cx="10934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13283B"/>
                </a:solidFill>
                <a:latin typeface="Georgia"/>
                <a:ea typeface="Georgia"/>
                <a:cs typeface="Georgia"/>
              </a:defRPr>
            </a:pPr>
            <a:r>
              <a:rPr sz="3600" b="0">
                <a:solidFill>
                  <a:srgbClr val="13283B"/>
                </a:solidFill>
                <a:latin typeface="Georgia"/>
                <a:ea typeface="Georgia"/>
                <a:cs typeface="Georgia"/>
              </a:rPr>
              <a:t>Granite research</a:t>
            </a:r>
          </a:p>
        </p:txBody>
      </p:sp>
      <p:sp>
        <p:nvSpPr>
          <p:cNvPr id="2" name="">
            <a:extLst xmlns:a="http://schemas.openxmlformats.org/drawingml/2006/main">
              <a:ext uri="{FF2B5EF4-FFF2-40B4-BE49-F238E27FC236}">
                <a16:creationId xmlns:a16="http://schemas.microsoft.com/office/drawing/2014/main" id="{981F4F02-FBDC-48CE-B3D2-DEAE88F509F5}"/>
              </a:ext>
            </a:extLst>
          </p:cNvPr>
          <p:cNvSpPr>
            <a:spLocks xmlns:a="http://schemas.openxmlformats.org/drawingml/2006/main" noGrp="1"/>
          </p:cNvSpPr>
          <p:nvPr/>
        </p:nvSpPr>
        <p:spPr>
          <a:xfrm xmlns:a="http://schemas.openxmlformats.org/drawingml/2006/main">
            <a:off x="609600" y="142875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286A93"/>
                </a:solidFill>
                <a:latin typeface="Arial"/>
                <a:ea typeface="Arial"/>
                <a:cs typeface="Arial"/>
              </a:defRPr>
            </a:pPr>
            <a:r>
              <a:rPr sz="2850" b="1">
                <a:solidFill>
                  <a:srgbClr val="286A93"/>
                </a:solidFill>
                <a:latin typeface="Arial"/>
                <a:ea typeface="Arial"/>
                <a:cs typeface="Arial"/>
              </a:rPr>
              <a:t>A separate retrieval experiment</a:t>
            </a:r>
          </a:p>
        </p:txBody>
      </p:sp>
      <p:sp>
        <p:nvSpPr>
          <p:cNvPr id="3" name="">
            <a:extLst xmlns:a="http://schemas.openxmlformats.org/drawingml/2006/main">
              <a:ext uri="{FF2B5EF4-FFF2-40B4-BE49-F238E27FC236}">
                <a16:creationId xmlns:a16="http://schemas.microsoft.com/office/drawing/2014/main" id="{6A358B9C-B98C-41A3-B4CA-2DCEBC53E177}"/>
              </a:ext>
            </a:extLst>
          </p:cNvPr>
          <p:cNvSpPr>
            <a:spLocks xmlns:a="http://schemas.openxmlformats.org/drawingml/2006/main" noGrp="1"/>
          </p:cNvSpPr>
          <p:nvPr/>
        </p:nvSpPr>
        <p:spPr>
          <a:xfrm xmlns:a="http://schemas.openxmlformats.org/drawingml/2006/main">
            <a:off x="628650" y="2714625"/>
            <a:ext cx="10668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3283B"/>
                </a:solidFill>
                <a:latin typeface="Arial"/>
                <a:ea typeface="Arial"/>
                <a:cs typeface="Arial"/>
              </a:defRPr>
            </a:pPr>
            <a:r>
              <a:rPr sz="2250" b="0">
                <a:solidFill>
                  <a:srgbClr val="13283B"/>
                </a:solidFill>
                <a:latin typeface="Arial"/>
                <a:ea typeface="Arial"/>
                <a:cs typeface="Arial"/>
              </a:rPr>
              <a:t>3,750 public procedure records.</a:t>
            </a:r>
          </a:p>
          <a:p xmlns:a="http://schemas.openxmlformats.org/drawingml/2006/main">
            <a:pPr>
              <a:defRPr sz="2250" b="0">
                <a:solidFill>
                  <a:srgbClr val="13283B"/>
                </a:solidFill>
                <a:latin typeface="Arial"/>
                <a:ea typeface="Arial"/>
                <a:cs typeface="Arial"/>
              </a:defRPr>
            </a:pPr>
            <a:r>
              <a:rPr sz="2250" b="0">
                <a:solidFill>
                  <a:srgbClr val="13283B"/>
                </a:solidFill>
                <a:latin typeface="Arial"/>
                <a:ea typeface="Arial"/>
                <a:cs typeface="Arial"/>
              </a:rPr>
              <a:t>English and Spanish training examples.</a:t>
            </a:r>
          </a:p>
          <a:p xmlns:a="http://schemas.openxmlformats.org/drawingml/2006/main">
            <a:r>
              <a:t/>
            </a:r>
          </a:p>
          <a:p xmlns:a="http://schemas.openxmlformats.org/drawingml/2006/main">
            <a:pPr>
              <a:defRPr sz="2250" b="0">
                <a:solidFill>
                  <a:srgbClr val="13283B"/>
                </a:solidFill>
                <a:latin typeface="Arial"/>
                <a:ea typeface="Arial"/>
                <a:cs typeface="Arial"/>
              </a:defRPr>
            </a:pPr>
            <a:r>
              <a:rPr sz="2250" b="0">
                <a:solidFill>
                  <a:srgbClr val="13283B"/>
                </a:solidFill>
                <a:latin typeface="Arial"/>
                <a:ea typeface="Arial"/>
                <a:cs typeface="Arial"/>
              </a:rPr>
              <a:t>We kept the previous candidate when further training failed to improve validation.</a:t>
            </a:r>
          </a:p>
        </p:txBody>
      </p:sp>
      <p:sp>
        <p:nvSpPr>
          <p:cNvPr id="4" name="">
            <a:extLst xmlns:a="http://schemas.openxmlformats.org/drawingml/2006/main">
              <a:ext uri="{FF2B5EF4-FFF2-40B4-BE49-F238E27FC236}">
                <a16:creationId xmlns:a16="http://schemas.microsoft.com/office/drawing/2014/main" id="{4407D897-A619-488D-A3B1-4688B732BA2D}"/>
              </a:ext>
            </a:extLst>
          </p:cNvPr>
          <p:cNvSpPr>
            <a:spLocks xmlns:a="http://schemas.openxmlformats.org/drawingml/2006/main" noGrp="1"/>
          </p:cNvSpPr>
          <p:nvPr/>
        </p:nvSpPr>
        <p:spPr>
          <a:xfrm xmlns:a="http://schemas.openxmlformats.org/drawingml/2006/main">
            <a:off x="628650" y="606742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56777"/>
                </a:solidFill>
                <a:latin typeface="Arial"/>
                <a:ea typeface="Arial"/>
                <a:cs typeface="Arial"/>
              </a:defRPr>
            </a:pPr>
            <a:r>
              <a:rPr sz="1275" b="0">
                <a:solidFill>
                  <a:srgbClr val="556777"/>
                </a:solidFill>
                <a:latin typeface="Arial"/>
                <a:ea typeface="Arial"/>
                <a:cs typeface="Arial"/>
              </a:rPr>
              <a:t>Not deployed. Latest contrast experiment: 270/343 to 268/343 on the same synthetic validation set.</a:t>
            </a:r>
          </a:p>
        </p:txBody>
      </p:sp>
    </p:spTree>
    <p:extLst>
      <p:ext uri="{BB962C8B-B14F-4D97-AF65-F5344CB8AC3E}">
        <p14:creationId xmlns:p14="http://schemas.microsoft.com/office/powerpoint/2010/main" val="1893095007"/>
      </p:ext>
    </p:extLst>
  </p:cSld>
</p:sld>
</file>

<file path=ppt/slides/slide8.xml><?xml version="1.0" encoding="utf-8"?>
<p:sld xmlns:p="http://schemas.openxmlformats.org/presentationml/2006/main">
  <p:cSld>
    <p:bg>
      <p:bgPr>
        <a:solidFill xmlns:a="http://schemas.openxmlformats.org/drawingml/2006/main">
          <a:srgbClr val="0C1B2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6B377DB-979E-4CED-ADBB-9CBEA7AC8022}"/>
              </a:ext>
            </a:extLst>
          </p:cNvPr>
          <p:cNvSpPr>
            <a:spLocks xmlns:a="http://schemas.openxmlformats.org/drawingml/2006/main" noGrp="1"/>
          </p:cNvSpPr>
          <p:nvPr/>
        </p:nvSpPr>
        <p:spPr>
          <a:xfrm xmlns:a="http://schemas.openxmlformats.org/drawingml/2006/main">
            <a:off x="609600" y="457200"/>
            <a:ext cx="10934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F5F3EC"/>
                </a:solidFill>
                <a:latin typeface="Georgia"/>
                <a:ea typeface="Georgia"/>
                <a:cs typeface="Georgia"/>
              </a:defRPr>
            </a:pPr>
            <a:r>
              <a:rPr sz="3600" b="0">
                <a:solidFill>
                  <a:srgbClr val="F5F3EC"/>
                </a:solidFill>
                <a:latin typeface="Georgia"/>
                <a:ea typeface="Georgia"/>
                <a:cs typeface="Georgia"/>
              </a:rPr>
              <a:t>A working prototype to try</a:t>
            </a:r>
          </a:p>
        </p:txBody>
      </p:sp>
      <p:sp>
        <p:nvSpPr>
          <p:cNvPr id="2" name="">
            <a:extLst xmlns:a="http://schemas.openxmlformats.org/drawingml/2006/main">
              <a:ext uri="{FF2B5EF4-FFF2-40B4-BE49-F238E27FC236}">
                <a16:creationId xmlns:a16="http://schemas.microsoft.com/office/drawing/2014/main" id="{134D096C-DBDA-4660-96C1-D75E9322843A}"/>
              </a:ext>
            </a:extLst>
          </p:cNvPr>
          <p:cNvSpPr>
            <a:spLocks xmlns:a="http://schemas.openxmlformats.org/drawingml/2006/main" noGrp="1"/>
          </p:cNvSpPr>
          <p:nvPr/>
        </p:nvSpPr>
        <p:spPr>
          <a:xfrm xmlns:a="http://schemas.openxmlformats.org/drawingml/2006/main">
            <a:off x="609600" y="142875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9CC9E5"/>
                </a:solidFill>
                <a:latin typeface="Arial"/>
                <a:ea typeface="Arial"/>
                <a:cs typeface="Arial"/>
              </a:defRPr>
            </a:pPr>
            <a:r>
              <a:rPr sz="2850" b="1">
                <a:solidFill>
                  <a:srgbClr val="9CC9E5"/>
                </a:solidFill>
                <a:latin typeface="Arial"/>
                <a:ea typeface="Arial"/>
                <a:cs typeface="Arial"/>
              </a:rPr>
              <a:t>Less searching for citizens.</a:t>
            </a:r>
          </a:p>
          <a:p xmlns:a="http://schemas.openxmlformats.org/drawingml/2006/main">
            <a:pPr>
              <a:defRPr sz="2850" b="1">
                <a:solidFill>
                  <a:srgbClr val="9CC9E5"/>
                </a:solidFill>
                <a:latin typeface="Arial"/>
                <a:ea typeface="Arial"/>
                <a:cs typeface="Arial"/>
              </a:defRPr>
            </a:pPr>
            <a:r>
              <a:rPr sz="2850" b="1">
                <a:solidFill>
                  <a:srgbClr val="9CC9E5"/>
                </a:solidFill>
                <a:latin typeface="Arial"/>
                <a:ea typeface="Arial"/>
                <a:cs typeface="Arial"/>
              </a:rPr>
              <a:t>A clearer maintenance task for teams.</a:t>
            </a:r>
          </a:p>
        </p:txBody>
      </p:sp>
      <p:sp>
        <p:nvSpPr>
          <p:cNvPr id="3" name="">
            <a:extLst xmlns:a="http://schemas.openxmlformats.org/drawingml/2006/main">
              <a:ext uri="{FF2B5EF4-FFF2-40B4-BE49-F238E27FC236}">
                <a16:creationId xmlns:a16="http://schemas.microsoft.com/office/drawing/2014/main" id="{0F0537F6-2B5A-4EA3-B2B7-6CF3EC7EC2C8}"/>
              </a:ext>
            </a:extLst>
          </p:cNvPr>
          <p:cNvSpPr>
            <a:spLocks xmlns:a="http://schemas.openxmlformats.org/drawingml/2006/main" noGrp="1"/>
          </p:cNvSpPr>
          <p:nvPr/>
        </p:nvSpPr>
        <p:spPr>
          <a:xfrm xmlns:a="http://schemas.openxmlformats.org/drawingml/2006/main">
            <a:off x="628650" y="2714625"/>
            <a:ext cx="10668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5F3EC"/>
                </a:solidFill>
                <a:latin typeface="Arial"/>
                <a:ea typeface="Arial"/>
                <a:cs typeface="Arial"/>
              </a:defRPr>
            </a:pPr>
            <a:r>
              <a:rPr sz="2250" b="0">
                <a:solidFill>
                  <a:srgbClr val="F5F3EC"/>
                </a:solidFill>
                <a:latin typeface="Arial"/>
                <a:ea typeface="Arial"/>
                <a:cs typeface="Arial"/>
              </a:rPr>
              <a:t>Live demo</a:t>
            </a:r>
          </a:p>
          <a:p xmlns:a="http://schemas.openxmlformats.org/drawingml/2006/main">
            <a:pPr>
              <a:defRPr sz="2250" b="0">
                <a:solidFill>
                  <a:srgbClr val="F5F3EC"/>
                </a:solidFill>
                <a:latin typeface="Arial"/>
                <a:ea typeface="Arial"/>
                <a:cs typeface="Arial"/>
              </a:defRPr>
            </a:pPr>
            <a:r>
              <a:rPr sz="2250" b="0">
                <a:solidFill>
                  <a:srgbClr val="F5F3EC"/>
                </a:solidFill>
                <a:latin typeface="Arial"/>
                <a:ea typeface="Arial"/>
                <a:cs typeface="Arial"/>
              </a:rPr>
              <a:t>andromedaweb.store/wayfinder/</a:t>
            </a:r>
          </a:p>
          <a:p xmlns:a="http://schemas.openxmlformats.org/drawingml/2006/main">
            <a:r>
              <a:t/>
            </a:r>
          </a:p>
          <a:p xmlns:a="http://schemas.openxmlformats.org/drawingml/2006/main">
            <a:pPr>
              <a:defRPr sz="2250" b="0">
                <a:solidFill>
                  <a:srgbClr val="F5F3EC"/>
                </a:solidFill>
                <a:latin typeface="Arial"/>
                <a:ea typeface="Arial"/>
                <a:cs typeface="Arial"/>
              </a:defRPr>
            </a:pPr>
            <a:r>
              <a:rPr sz="2250" b="0">
                <a:solidFill>
                  <a:srgbClr val="F5F3EC"/>
                </a:solidFill>
                <a:latin typeface="Arial"/>
                <a:ea typeface="Arial"/>
                <a:cs typeface="Arial"/>
              </a:rPr>
              <a:t>Source and reproducible evidence</a:t>
            </a:r>
          </a:p>
          <a:p xmlns:a="http://schemas.openxmlformats.org/drawingml/2006/main">
            <a:pPr>
              <a:defRPr sz="2250" b="0">
                <a:solidFill>
                  <a:srgbClr val="F5F3EC"/>
                </a:solidFill>
                <a:latin typeface="Arial"/>
                <a:ea typeface="Arial"/>
                <a:cs typeface="Arial"/>
              </a:defRPr>
            </a:pPr>
            <a:r>
              <a:rPr sz="2250" b="0">
                <a:solidFill>
                  <a:srgbClr val="F5F3EC"/>
                </a:solidFill>
                <a:latin typeface="Arial"/>
                <a:ea typeface="Arial"/>
                <a:cs typeface="Arial"/>
              </a:rPr>
              <a:t>github.com/candepilar/wayfinder</a:t>
            </a:r>
          </a:p>
        </p:txBody>
      </p:sp>
      <p:sp>
        <p:nvSpPr>
          <p:cNvPr id="4" name="">
            <a:extLst xmlns:a="http://schemas.openxmlformats.org/drawingml/2006/main">
              <a:ext uri="{FF2B5EF4-FFF2-40B4-BE49-F238E27FC236}">
                <a16:creationId xmlns:a16="http://schemas.microsoft.com/office/drawing/2014/main" id="{661126D8-1AB0-4872-8073-48CA2C082DF6}"/>
              </a:ext>
            </a:extLst>
          </p:cNvPr>
          <p:cNvSpPr>
            <a:spLocks xmlns:a="http://schemas.openxmlformats.org/drawingml/2006/main" noGrp="1"/>
          </p:cNvSpPr>
          <p:nvPr/>
        </p:nvSpPr>
        <p:spPr>
          <a:xfrm xmlns:a="http://schemas.openxmlformats.org/drawingml/2006/main">
            <a:off x="628650" y="606742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AFBECC"/>
                </a:solidFill>
                <a:latin typeface="Arial"/>
                <a:ea typeface="Arial"/>
                <a:cs typeface="Arial"/>
              </a:defRPr>
            </a:pPr>
            <a:r>
              <a:rPr sz="1275" b="0">
                <a:solidFill>
                  <a:srgbClr val="AFBECC"/>
                </a:solidFill>
                <a:latin typeface="Arial"/>
                <a:ea typeface="Arial"/>
                <a:cs typeface="Arial"/>
              </a:rPr>
              <a:t>Public HTML only. Partial coverage is explicit. No form submission. No guarantee of current requirements.</a:t>
            </a:r>
          </a:p>
        </p:txBody>
      </p:sp>
    </p:spTree>
    <p:extLst>
      <p:ext uri="{BB962C8B-B14F-4D97-AF65-F5344CB8AC3E}">
        <p14:creationId xmlns:p14="http://schemas.microsoft.com/office/powerpoint/2010/main" val="5819786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2026-09-27T11:45:24.4350000Z</dcterms:created>
  <dcterms:modified xsi:type="dcterms:W3CDTF">2026-09-27T11:45:24.4350000Z</dcterms:modified>
</coreProperties>
</file>